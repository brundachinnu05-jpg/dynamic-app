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embeddedFontLst>
    <p:embeddedFont>
      <p:font typeface="IBM Plex Mono Medium" panose="020B0609050203000203" pitchFamily="34" charset="0"/>
      <p:regular r:id="rId17"/>
    </p:embeddedFont>
    <p:embeddedFont>
      <p:font typeface="IBM Plex Mono Medium" panose="020B0609050203000203" pitchFamily="34" charset="-122"/>
      <p:regular r:id="rId18"/>
    </p:embeddedFont>
    <p:embeddedFont>
      <p:font typeface="IBM Plex Mono Medium" panose="020B0609050203000203" pitchFamily="34" charset="-120"/>
      <p:regular r:id="rId19"/>
    </p:embeddedFont>
    <p:embeddedFont>
      <p:font typeface="Black Han Sans" pitchFamily="34" charset="-127"/>
      <p:regular r:id="rId20"/>
    </p:embeddedFont>
    <p:embeddedFont>
      <p:font typeface="Black Han Sans" pitchFamily="34" charset="-122"/>
      <p:regular r:id="rId21"/>
    </p:embeddedFont>
    <p:embeddedFont>
      <p:font typeface="Black Han Sans" pitchFamily="34" charset="-120"/>
      <p:regular r:id="rId22"/>
    </p:embeddedFont>
    <p:embeddedFont>
      <p:font typeface="Inter" panose="02000503000000020004" pitchFamily="34" charset="0"/>
      <p:regular r:id="rId23"/>
    </p:embeddedFont>
    <p:embeddedFont>
      <p:font typeface="Inter" panose="02000503000000020004" pitchFamily="34" charset="-122"/>
      <p:regular r:id="rId24"/>
    </p:embeddedFont>
    <p:embeddedFont>
      <p:font typeface="Inter" panose="02000503000000020004" pitchFamily="34" charset="-120"/>
      <p:regular r:id="rId25"/>
    </p:embeddedFont>
    <p:embeddedFont>
      <p:font typeface="IBM Plex Mono" panose="020B0509050203000203" pitchFamily="34" charset="0"/>
      <p:regular r:id="rId26"/>
    </p:embeddedFont>
    <p:embeddedFont>
      <p:font typeface="IBM Plex Mono" panose="020B0509050203000203" pitchFamily="34" charset="-122"/>
      <p:regular r:id="rId27"/>
    </p:embeddedFont>
    <p:embeddedFont>
      <p:font typeface="IBM Plex Mono" panose="020B0509050203000203" pitchFamily="34" charset="-120"/>
      <p:regular r:id="rId28"/>
    </p:embeddedFont>
    <p:embeddedFont>
      <p:font typeface="Inter Bold" panose="02000503000000020004" pitchFamily="34" charset="0"/>
      <p:bold r:id="rId29"/>
    </p:embeddedFont>
    <p:embeddedFont>
      <p:font typeface="Inter Bold" panose="02000503000000020004" pitchFamily="34" charset="-122"/>
      <p:bold r:id="rId30"/>
    </p:embeddedFont>
    <p:embeddedFont>
      <p:font typeface="Inter Bold" panose="02000503000000020004" pitchFamily="34" charset="-120"/>
      <p:bold r:id="rId31"/>
    </p:embeddedFont>
    <p:embeddedFont>
      <p:font typeface="Inter SemiBold" panose="02000503000000020004" pitchFamily="34" charset="0"/>
      <p:bold r:id="rId32"/>
    </p:embeddedFont>
    <p:embeddedFont>
      <p:font typeface="Inter SemiBold" panose="02000503000000020004" pitchFamily="34" charset="-122"/>
      <p:bold r:id="rId33"/>
    </p:embeddedFont>
    <p:embeddedFont>
      <p:font typeface="Inter SemiBold" panose="02000503000000020004" pitchFamily="34" charset="-120"/>
      <p:bold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22.fntdata"/><Relationship Id="rId37" Type="http://schemas.openxmlformats.org/officeDocument/2006/relationships/font" Target="fonts/font21.fntdata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631" y="685800"/>
            <a:ext cx="5854554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E8490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STUDENT SECURITY / FIELD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5631" y="3022600"/>
            <a:ext cx="7149921" cy="182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0" spc="-324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Cybersecurity </a:t>
            </a:r>
            <a:r>
              <a:rPr lang="en-US" sz="7200" kern="0" spc="-324" dirty="0">
                <a:solidFill>
                  <a:srgbClr val="4F7CFF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Essentials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55631" y="5076825"/>
            <a:ext cx="7759506" cy="306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Small habits. Fewer avoidable risks.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11318"/>
          </a:solidFill>
        </p:spPr>
      </p:sp>
      <p:sp>
        <p:nvSpPr>
          <p:cNvPr id="3" name="Text 1"/>
          <p:cNvSpPr/>
          <p:nvPr/>
        </p:nvSpPr>
        <p:spPr>
          <a:xfrm>
            <a:off x="431789" y="2145705"/>
            <a:ext cx="4444889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BBC1CC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THE EVERYDAY THREAT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2447330"/>
            <a:ext cx="4013100" cy="12823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BBC1CC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Cybersecurity is everyday self-defense.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31789" y="3955058"/>
            <a:ext cx="4013100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Not a specialist activity. It is how you protect the devices, accounts, and personal data you use to learn, work, bank, and connect.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250" y="1094780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27637" y="1143000"/>
            <a:ext cx="454648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Protect the basics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27637" y="1563985"/>
            <a:ext cx="4546486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Devices, accounts, and personal data from unauthorized access and misuse.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250" y="3075980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27637" y="3124200"/>
            <a:ext cx="454648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Notice your exposure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27637" y="3545185"/>
            <a:ext cx="4546486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Email, learning platforms, banking, social accounts, and shared networks are part of student life.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250" y="5057180"/>
            <a:ext cx="355591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27637" y="5105400"/>
            <a:ext cx="454648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Build a routine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527637" y="5526385"/>
            <a:ext cx="4546486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Recognize common risks, then make safer choices repeatable.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533400"/>
            <a:ext cx="11759906" cy="1935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kern="0" spc="102" dirty="0">
                <a:solidFill>
                  <a:srgbClr val="7196FF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THE FIRST SIGNAL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31789" y="805458"/>
            <a:ext cx="11328117" cy="3948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50" kern="0" spc="-137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Most cyber threats start with a moment of trust.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431789" y="1392634"/>
            <a:ext cx="11759906" cy="2242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message looks familiar. A download feels useful. A request sounds urgent. The safest move is to slow the handoff.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1789" y="1947366"/>
            <a:ext cx="11328117" cy="2393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50" kern="0" spc="-83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Cybersecurity Essentials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31789" y="2324795"/>
            <a:ext cx="11328117" cy="1243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1350"/>
              </a:spcAft>
              <a:buNone/>
            </a:pPr>
            <a:r>
              <a:rPr lang="en-US" sz="1300" b="1" dirty="0">
                <a:solidFill>
                  <a:srgbClr val="BBC1CC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“Most cyber threats start with a moment of trust.”</a:t>
            </a:r>
            <a:endParaRPr lang="en-US" sz="1300" dirty="0"/>
          </a:p>
          <a:p>
            <a:pPr marL="0" indent="0" algn="l">
              <a:lnSpc>
                <a:spcPct val="114000"/>
              </a:lnSpc>
              <a:spcAft>
                <a:spcPts val="1350"/>
              </a:spcAft>
              <a:buNone/>
            </a:pP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Cyber attackers often take advantage of human trust through fake emails, messages, links, websites, and social engineering. A single careless click can expose personal information or give attackers access to an account.</a:t>
            </a:r>
            <a:endParaRPr lang="en-US" sz="13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BBC1CC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Key points: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1789" y="3741738"/>
            <a:ext cx="11328117" cy="21856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🔐</a:t>
            </a: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Use strong and unique passwords.</a:t>
            </a:r>
            <a:endParaRPr lang="en-US" sz="1300" dirty="0"/>
          </a:p>
          <a:p>
            <a:pPr marL="264160" indent="-264160" algn="l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🎣</a:t>
            </a: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Be careful with suspicious emails and links.</a:t>
            </a:r>
            <a:endParaRPr lang="en-US" sz="1300" dirty="0"/>
          </a:p>
          <a:p>
            <a:pPr marL="264160" indent="-264160" algn="l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🔑</a:t>
            </a: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Enable two-factor authentication (2FA).</a:t>
            </a:r>
            <a:endParaRPr lang="en-US" sz="1300" dirty="0"/>
          </a:p>
          <a:p>
            <a:pPr marL="264160" indent="-264160" algn="l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🛡️</a:t>
            </a: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Keep apps and devices updated.</a:t>
            </a:r>
            <a:endParaRPr lang="en-US" sz="1300" dirty="0"/>
          </a:p>
          <a:p>
            <a:pPr marL="264160" indent="-264160" algn="l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🌐</a:t>
            </a: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Avoid entering sensitive information on unknown websites.</a:t>
            </a:r>
            <a:endParaRPr lang="en-US" sz="1300" dirty="0"/>
          </a:p>
          <a:p>
            <a:pPr marL="264160" indent="-264160" algn="l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📱</a:t>
            </a: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Protect personal information on social media.</a:t>
            </a:r>
            <a:endParaRPr lang="en-US" sz="1300" dirty="0"/>
          </a:p>
          <a:p>
            <a:pPr marL="264160" indent="-264160" algn="l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💾</a:t>
            </a: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Keep important data backed up.</a:t>
            </a:r>
            <a:endParaRPr lang="en-US" sz="1300" dirty="0"/>
          </a:p>
          <a:p>
            <a:pPr marL="264160" indent="-264160" algn="l">
              <a:lnSpc>
                <a:spcPct val="114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👀</a:t>
            </a:r>
            <a:r>
              <a:rPr lang="en-US" sz="13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Think before you click, download, or share.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89" y="6100763"/>
            <a:ext cx="11759906" cy="2242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BBC1CC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Key takeaway: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8044" y="6563320"/>
            <a:ext cx="11513651" cy="2242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BBC1CC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Think before you trust. Verify before you click. Protect before you share.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789" y="6498332"/>
            <a:ext cx="19050" cy="354211"/>
          </a:xfrm>
          <a:prstGeom prst="roundRect">
            <a:avLst>
              <a:gd name="adj" fmla="val 49999"/>
            </a:avLst>
          </a:prstGeom>
          <a:solidFill>
            <a:srgbClr val="4F7CFF"/>
          </a:solidFill>
        </p:spPr>
      </p:sp>
      <p:sp>
        <p:nvSpPr>
          <p:cNvPr id="11" name="Text 9"/>
          <p:cNvSpPr/>
          <p:nvPr/>
        </p:nvSpPr>
        <p:spPr>
          <a:xfrm>
            <a:off x="11404910" y="6465788"/>
            <a:ext cx="786785" cy="17482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0" spc="116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CONTAIN THE BLAST RADIUS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Strong passwords stop easy domino effects.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487884"/>
            <a:ext cx="11582110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One reused password can open several doors. Unique credentials keep one leak from becoming an account chain reaction.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1943497"/>
            <a:ext cx="760890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585" y="2154337"/>
            <a:ext cx="3352716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7" name="Text 5"/>
          <p:cNvSpPr/>
          <p:nvPr/>
        </p:nvSpPr>
        <p:spPr>
          <a:xfrm>
            <a:off x="609585" y="2280047"/>
            <a:ext cx="335271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Make each one unique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2701032"/>
            <a:ext cx="3352716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 long passwords for every important account.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19489" y="1943497"/>
            <a:ext cx="788869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9489" y="2154337"/>
            <a:ext cx="3352716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11" name="Text 9"/>
          <p:cNvSpPr/>
          <p:nvPr/>
        </p:nvSpPr>
        <p:spPr>
          <a:xfrm>
            <a:off x="4419489" y="2280047"/>
            <a:ext cx="335271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Let a manager remember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9489" y="2701032"/>
            <a:ext cx="3352716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Generate and store credentials instead of reusing one favorite password.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394" y="1943497"/>
            <a:ext cx="790654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394" y="2154337"/>
            <a:ext cx="3352716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15" name="Text 13"/>
          <p:cNvSpPr/>
          <p:nvPr/>
        </p:nvSpPr>
        <p:spPr>
          <a:xfrm>
            <a:off x="8229394" y="2280047"/>
            <a:ext cx="335271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Add a second check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394" y="2701032"/>
            <a:ext cx="3352716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Turn on multi-factor authentication for email, school, banking, and social accounts.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THE THREE-SECOND TRAP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Phishing works by rushing your judgment.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487884"/>
            <a:ext cx="11582110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message wants speed. Your defense is a deliberate pause.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1943497"/>
            <a:ext cx="760890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585" y="2154337"/>
            <a:ext cx="3352716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7" name="Text 5"/>
          <p:cNvSpPr/>
          <p:nvPr/>
        </p:nvSpPr>
        <p:spPr>
          <a:xfrm>
            <a:off x="609585" y="2280047"/>
            <a:ext cx="335271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Recognize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2701032"/>
            <a:ext cx="3352716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Watch for urgency, emotional pressure, unexpected attachments, personal-data requests, and mismatched links.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19489" y="1943497"/>
            <a:ext cx="788869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19489" y="2154337"/>
            <a:ext cx="3352716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11" name="Text 9"/>
          <p:cNvSpPr/>
          <p:nvPr/>
        </p:nvSpPr>
        <p:spPr>
          <a:xfrm>
            <a:off x="4419489" y="2280047"/>
            <a:ext cx="335271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Resist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9489" y="2701032"/>
            <a:ext cx="3352716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Do not click, reply, or call the number in the message. Verify through a trusted app or official website.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394" y="1943497"/>
            <a:ext cx="790654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394" y="2154337"/>
            <a:ext cx="3352716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15" name="Text 13"/>
          <p:cNvSpPr/>
          <p:nvPr/>
        </p:nvSpPr>
        <p:spPr>
          <a:xfrm>
            <a:off x="8229394" y="2280047"/>
            <a:ext cx="335271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Report and delete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394" y="2701032"/>
            <a:ext cx="3352716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 the platform’s report option, then remove the message.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11318"/>
          </a:solidFill>
        </p:spPr>
      </p:sp>
      <p:sp>
        <p:nvSpPr>
          <p:cNvPr id="3" name="Text 1"/>
          <p:cNvSpPr/>
          <p:nvPr/>
        </p:nvSpPr>
        <p:spPr>
          <a:xfrm>
            <a:off x="380990" y="533400"/>
            <a:ext cx="3276518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BBC1CC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A SAFER DEFAULT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0990" y="3884613"/>
            <a:ext cx="2895528" cy="17097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BBC1CC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Safe internet habits are mostly pauses.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380990" y="5819775"/>
            <a:ext cx="2895528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Small delays create room to notice what a rushed click hides.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16295" y="711200"/>
            <a:ext cx="311142" cy="311150"/>
          </a:xfrm>
          <a:prstGeom prst="ellipse">
            <a:avLst/>
          </a:prstGeom>
          <a:solidFill>
            <a:srgbClr val="4F7CFF"/>
          </a:solidFill>
          <a:ln w="6350">
            <a:solidFill>
              <a:srgbClr val="4142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5626" y="777875"/>
            <a:ext cx="802064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5232" y="727075"/>
            <a:ext cx="6927677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Update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05232" y="1148060"/>
            <a:ext cx="6927677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Keep your operating system, apps, browser, and antivirus current. Automatic updates are best.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16295" y="2276971"/>
            <a:ext cx="329696" cy="329704"/>
          </a:xfrm>
          <a:prstGeom prst="ellipse">
            <a:avLst/>
          </a:prstGeom>
          <a:solidFill>
            <a:srgbClr val="4F7CFF"/>
          </a:solidFill>
          <a:ln w="6350">
            <a:solidFill>
              <a:srgbClr val="4142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093" y="2352873"/>
            <a:ext cx="837683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23786" y="2302073"/>
            <a:ext cx="6909123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Connect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23786" y="2723059"/>
            <a:ext cx="6909123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 trusted networks for sensitive activity; avoid entering passwords on unknown Wi-Fi.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16295" y="3851970"/>
            <a:ext cx="332077" cy="332085"/>
          </a:xfrm>
          <a:prstGeom prst="ellipse">
            <a:avLst/>
          </a:prstGeom>
          <a:solidFill>
            <a:srgbClr val="4F7CFF"/>
          </a:solidFill>
          <a:ln w="6350">
            <a:solidFill>
              <a:srgbClr val="4142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7093" y="3929062"/>
            <a:ext cx="840064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26167" y="3878262"/>
            <a:ext cx="6906742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Check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26167" y="4299248"/>
            <a:ext cx="6906742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Confirm the domain before signing in. Type important addresses yourself.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16295" y="5175845"/>
            <a:ext cx="337335" cy="337344"/>
          </a:xfrm>
          <a:prstGeom prst="ellipse">
            <a:avLst/>
          </a:prstGeom>
          <a:solidFill>
            <a:srgbClr val="4F7CFF"/>
          </a:solidFill>
          <a:ln w="6350">
            <a:solidFill>
              <a:srgbClr val="4142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7093" y="5255617"/>
            <a:ext cx="845323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31425" y="5204817"/>
            <a:ext cx="6901484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31425" y="5625802"/>
            <a:ext cx="6901484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Pause before downloading files, scanning QR codes, or granting app permissions.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16295" y="2092821"/>
            <a:ext cx="7416614" cy="12700"/>
          </a:xfrm>
          <a:prstGeom prst="rect">
            <a:avLst/>
          </a:prstGeom>
          <a:solidFill>
            <a:srgbClr val="292D36"/>
          </a:solidFill>
        </p:spPr>
      </p:sp>
      <p:sp>
        <p:nvSpPr>
          <p:cNvPr id="23" name="Shape 21"/>
          <p:cNvSpPr/>
          <p:nvPr/>
        </p:nvSpPr>
        <p:spPr>
          <a:xfrm>
            <a:off x="4216295" y="3667820"/>
            <a:ext cx="7416614" cy="12700"/>
          </a:xfrm>
          <a:prstGeom prst="rect">
            <a:avLst/>
          </a:prstGeom>
          <a:solidFill>
            <a:srgbClr val="292D36"/>
          </a:solidFill>
        </p:spPr>
      </p:sp>
      <p:sp>
        <p:nvSpPr>
          <p:cNvPr id="24" name="Shape 22"/>
          <p:cNvSpPr/>
          <p:nvPr/>
        </p:nvSpPr>
        <p:spPr>
          <a:xfrm>
            <a:off x="4216295" y="4991695"/>
            <a:ext cx="7416614" cy="12700"/>
          </a:xfrm>
          <a:prstGeom prst="rect">
            <a:avLst/>
          </a:prstGeom>
          <a:solidFill>
            <a:srgbClr val="292D36"/>
          </a:solidFill>
        </p:spPr>
      </p:sp>
      <p:sp>
        <p:nvSpPr>
          <p:cNvPr id="25" name="Text 23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REDUCE WHAT CAN SPREAD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8548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Protect data by sharing less and backing up what matters.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915319"/>
            <a:ext cx="11582110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Security is not only about blocking attacks. It is also about limiting exposure and keeping a way 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370931"/>
            <a:ext cx="3352716" cy="2430760"/>
          </a:xfrm>
          <a:prstGeom prst="rect">
            <a:avLst/>
          </a:prstGeom>
          <a:noFill/>
          <a:ln w="19050">
            <a:solidFill>
              <a:srgbClr val="414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8027" y="2669381"/>
            <a:ext cx="3054274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7E8490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BEFORE YOU SHARE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08027" y="3072606"/>
            <a:ext cx="2755831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Classify it.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08027" y="3493591"/>
            <a:ext cx="2755831" cy="1009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Ask whether information is public, personal, or sensitive before you post, upload, or send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9489" y="2370931"/>
            <a:ext cx="3352716" cy="2430760"/>
          </a:xfrm>
          <a:prstGeom prst="rect">
            <a:avLst/>
          </a:prstGeom>
          <a:solidFill>
            <a:srgbClr val="111318"/>
          </a:solidFill>
        </p:spPr>
      </p:sp>
      <p:sp>
        <p:nvSpPr>
          <p:cNvPr id="10" name="Text 8"/>
          <p:cNvSpPr/>
          <p:nvPr/>
        </p:nvSpPr>
        <p:spPr>
          <a:xfrm>
            <a:off x="4698882" y="2650331"/>
            <a:ext cx="3073323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BBC1CC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BEFORE AN APP GROWS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98882" y="3053556"/>
            <a:ext cx="2793930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BBC1CC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Limit access.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98882" y="3474541"/>
            <a:ext cx="2793930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Review permissions and privacy settings on social and school platforms.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394" y="2370931"/>
            <a:ext cx="3352716" cy="2430760"/>
          </a:xfrm>
          <a:prstGeom prst="rect">
            <a:avLst/>
          </a:prstGeom>
          <a:solidFill>
            <a:srgbClr val="111318"/>
          </a:solidFill>
        </p:spPr>
      </p:sp>
      <p:sp>
        <p:nvSpPr>
          <p:cNvPr id="14" name="Text 12"/>
          <p:cNvSpPr/>
          <p:nvPr/>
        </p:nvSpPr>
        <p:spPr>
          <a:xfrm>
            <a:off x="8508787" y="2650331"/>
            <a:ext cx="3073323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BBC1CC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BEFORE A DEVICE FAILS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8787" y="3053556"/>
            <a:ext cx="2793930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BBC1CC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Keep a way back.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8787" y="3474541"/>
            <a:ext cx="2793930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Lock devices, enable remote location and erase features, and back up important files.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THE CAMPUS THREAT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Cybersecurity shows up in ordinary student life.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9585" y="1487884"/>
            <a:ext cx="5257668" cy="6350"/>
          </a:xfrm>
          <a:prstGeom prst="rect">
            <a:avLst/>
          </a:prstGeom>
          <a:solidFill>
            <a:srgbClr val="292D36"/>
          </a:solidFill>
        </p:spPr>
      </p:sp>
      <p:sp>
        <p:nvSpPr>
          <p:cNvPr id="5" name="Text 3"/>
          <p:cNvSpPr/>
          <p:nvPr/>
        </p:nvSpPr>
        <p:spPr>
          <a:xfrm>
            <a:off x="609585" y="1722834"/>
            <a:ext cx="5257668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7E8490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CAMPUS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2126059"/>
            <a:ext cx="5257668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Protect the school login.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547045"/>
            <a:ext cx="5257668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It can unlock email, files, and course systems.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2" y="1487884"/>
            <a:ext cx="5257668" cy="6350"/>
          </a:xfrm>
          <a:prstGeom prst="rect">
            <a:avLst/>
          </a:prstGeom>
          <a:solidFill>
            <a:srgbClr val="292D36"/>
          </a:solidFill>
        </p:spPr>
      </p:sp>
      <p:sp>
        <p:nvSpPr>
          <p:cNvPr id="9" name="Text 7"/>
          <p:cNvSpPr/>
          <p:nvPr/>
        </p:nvSpPr>
        <p:spPr>
          <a:xfrm>
            <a:off x="6324442" y="1722834"/>
            <a:ext cx="5257668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7E8490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WORK AND INTERNSHIPS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24442" y="2126059"/>
            <a:ext cx="5257668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Separate account contexts.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24442" y="2547045"/>
            <a:ext cx="5257668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Keep personal and professional accounts distinct; treat unexpected “HR” requests cautiously.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3509070"/>
            <a:ext cx="5257668" cy="6350"/>
          </a:xfrm>
          <a:prstGeom prst="rect">
            <a:avLst/>
          </a:prstGeom>
          <a:solidFill>
            <a:srgbClr val="292D36"/>
          </a:solidFill>
        </p:spPr>
      </p:sp>
      <p:sp>
        <p:nvSpPr>
          <p:cNvPr id="13" name="Text 11"/>
          <p:cNvSpPr/>
          <p:nvPr/>
        </p:nvSpPr>
        <p:spPr>
          <a:xfrm>
            <a:off x="609585" y="3744020"/>
            <a:ext cx="5257668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7E8490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MONEY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585" y="4147245"/>
            <a:ext cx="5257668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Verify payment requests.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9585" y="4568230"/>
            <a:ext cx="5257668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 a second channel before sending funds.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24442" y="3509070"/>
            <a:ext cx="5257668" cy="63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17" name="Text 15"/>
          <p:cNvSpPr/>
          <p:nvPr/>
        </p:nvSpPr>
        <p:spPr>
          <a:xfrm>
            <a:off x="6324442" y="3744020"/>
            <a:ext cx="5257668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SOCIAL LIFE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24442" y="4147245"/>
            <a:ext cx="5257668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Share with intention.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24442" y="4568230"/>
            <a:ext cx="5257668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Think twice before sharing location, travel plans, or identity details.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111318"/>
          </a:solidFill>
        </p:spPr>
      </p:sp>
      <p:sp>
        <p:nvSpPr>
          <p:cNvPr id="3" name="Text 1"/>
          <p:cNvSpPr/>
          <p:nvPr/>
        </p:nvSpPr>
        <p:spPr>
          <a:xfrm>
            <a:off x="431789" y="533400"/>
            <a:ext cx="4038499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BBC1CC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WHEN THE PLAN BREAKS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4137025"/>
            <a:ext cx="3606710" cy="17097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BBC1CC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If something goes wrong, act quickly and calmly.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31789" y="6072188"/>
            <a:ext cx="4038499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Speed matters. Panic does not.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38659" y="1143000"/>
            <a:ext cx="760890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38659" y="1353840"/>
            <a:ext cx="2006550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8" name="Text 6"/>
          <p:cNvSpPr/>
          <p:nvPr/>
        </p:nvSpPr>
        <p:spPr>
          <a:xfrm>
            <a:off x="5638659" y="1479550"/>
            <a:ext cx="2006550" cy="518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Stop the interaction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38659" y="2159595"/>
            <a:ext cx="2006550" cy="12620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Close the tab, end the call, or remove the device from the network if malware is suspected.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16774" y="1143000"/>
            <a:ext cx="788869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16774" y="1353840"/>
            <a:ext cx="2006550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12" name="Text 10"/>
          <p:cNvSpPr/>
          <p:nvPr/>
        </p:nvSpPr>
        <p:spPr>
          <a:xfrm>
            <a:off x="9016774" y="1479550"/>
            <a:ext cx="2006550" cy="518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Secure the account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16774" y="2159595"/>
            <a:ext cx="2006550" cy="12620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From a trusted device, change the password, revoke unknown sessions, and enable MFA.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38659" y="4165600"/>
            <a:ext cx="790654" cy="139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anose="02000503000000020004" pitchFamily="34" charset="0"/>
                <a:ea typeface="Inter SemiBold" panose="02000503000000020004" pitchFamily="34" charset="-122"/>
                <a:cs typeface="Inter SemiBold" panose="02000503000000020004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38659" y="4376440"/>
            <a:ext cx="5384566" cy="1905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16" name="Text 14"/>
          <p:cNvSpPr/>
          <p:nvPr/>
        </p:nvSpPr>
        <p:spPr>
          <a:xfrm>
            <a:off x="5638659" y="4502150"/>
            <a:ext cx="5384665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Tell the right people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38659" y="4923135"/>
            <a:ext cx="5384665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BBC1C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Contact campus IT, the bank or platform, and anyone affected. Save evidence before deleting it.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84200"/>
            <a:ext cx="1158211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anose="020B0609050203000203" pitchFamily="34" charset="0"/>
                <a:ea typeface="IBM Plex Mono Medium" panose="020B0609050203000203" pitchFamily="34" charset="-122"/>
                <a:cs typeface="IBM Plex Mono Medium" panose="020B0609050203000203" pitchFamily="34" charset="-120"/>
              </a:rPr>
              <a:t>THE 60-SECOND ROUTINE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1295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000" kern="0" spc="-225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Make security a </a:t>
            </a:r>
            <a:r>
              <a:rPr lang="en-US" sz="5000" kern="0" spc="-225" dirty="0">
                <a:solidFill>
                  <a:srgbClr val="4F7CFF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60-second</a:t>
            </a:r>
            <a:r>
              <a:rPr lang="en-US" sz="5000" kern="0" spc="-225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 routine.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506266"/>
            <a:ext cx="2743131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7E8490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BEFORE YOU CLICK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2909491"/>
            <a:ext cx="2565336" cy="259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Pause and verify.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30512" y="2506266"/>
            <a:ext cx="2565336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7E8490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BEFORE YOU SIGN 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30512" y="2909491"/>
            <a:ext cx="2387540" cy="7771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Use a unique password and MFA.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73643" y="2506266"/>
            <a:ext cx="2565336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7E8490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BEFORE YOU SHARE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73643" y="2909491"/>
            <a:ext cx="2387540" cy="7771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Ask whether it needs to be public.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016774" y="2506266"/>
            <a:ext cx="2565336" cy="2000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7E8490"/>
                </a:solidFill>
                <a:latin typeface="IBM Plex Mono" panose="020B0509050203000203" pitchFamily="34" charset="0"/>
                <a:ea typeface="IBM Plex Mono" panose="020B0509050203000203" pitchFamily="34" charset="-122"/>
                <a:cs typeface="IBM Plex Mono" panose="020B0509050203000203" pitchFamily="34" charset="-120"/>
              </a:rPr>
              <a:t>BEFORE YOU LEAVE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16774" y="2909491"/>
            <a:ext cx="2565336" cy="518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7F8FB"/>
                </a:solidFill>
                <a:latin typeface="Black Han Sans" pitchFamily="34" charset="-127"/>
                <a:ea typeface="Black Han Sans" pitchFamily="34" charset="-122"/>
                <a:cs typeface="Black Han Sans" pitchFamily="34" charset="-120"/>
              </a:rPr>
              <a:t>Update, lock, and back up.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377" y="5704880"/>
            <a:ext cx="10667733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000" dirty="0">
                <a:solidFill>
                  <a:srgbClr val="F7F8FB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Good cybersecurity is not paranoia. It is a few repeatable choices that protect your freedom to learn, work, and connect.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5" y="5628680"/>
            <a:ext cx="25399" cy="721320"/>
          </a:xfrm>
          <a:prstGeom prst="rect">
            <a:avLst/>
          </a:prstGeom>
          <a:solidFill>
            <a:srgbClr val="4F7CFF"/>
          </a:solidFill>
        </p:spPr>
      </p:sp>
      <p:sp>
        <p:nvSpPr>
          <p:cNvPr id="14" name="Shape 12"/>
          <p:cNvSpPr/>
          <p:nvPr/>
        </p:nvSpPr>
        <p:spPr>
          <a:xfrm>
            <a:off x="3346366" y="2506266"/>
            <a:ext cx="12700" cy="1180405"/>
          </a:xfrm>
          <a:prstGeom prst="rect">
            <a:avLst/>
          </a:prstGeom>
          <a:solidFill>
            <a:srgbClr val="292D36"/>
          </a:solidFill>
        </p:spPr>
      </p:sp>
      <p:sp>
        <p:nvSpPr>
          <p:cNvPr id="15" name="Shape 13"/>
          <p:cNvSpPr/>
          <p:nvPr/>
        </p:nvSpPr>
        <p:spPr>
          <a:xfrm>
            <a:off x="6089498" y="2506266"/>
            <a:ext cx="12700" cy="1180405"/>
          </a:xfrm>
          <a:prstGeom prst="rect">
            <a:avLst/>
          </a:prstGeom>
          <a:solidFill>
            <a:srgbClr val="292D36"/>
          </a:solidFill>
        </p:spPr>
      </p:sp>
      <p:sp>
        <p:nvSpPr>
          <p:cNvPr id="16" name="Shape 14"/>
          <p:cNvSpPr/>
          <p:nvPr/>
        </p:nvSpPr>
        <p:spPr>
          <a:xfrm>
            <a:off x="8832629" y="2506266"/>
            <a:ext cx="12700" cy="1180405"/>
          </a:xfrm>
          <a:prstGeom prst="rect">
            <a:avLst/>
          </a:prstGeom>
          <a:solidFill>
            <a:srgbClr val="292D36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4636</Words>
  <Application>WPS Presentation</Application>
  <PresentationFormat>On-screen Show (16:9)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5" baseType="lpstr">
      <vt:lpstr>Arial</vt:lpstr>
      <vt:lpstr>SimSun</vt:lpstr>
      <vt:lpstr>Wingdings</vt:lpstr>
      <vt:lpstr>IBM Plex Mono Medium</vt:lpstr>
      <vt:lpstr>IBM Plex Mono Medium</vt:lpstr>
      <vt:lpstr>IBM Plex Mono Medium</vt:lpstr>
      <vt:lpstr>Black Han Sans</vt:lpstr>
      <vt:lpstr>Black Han Sans</vt:lpstr>
      <vt:lpstr>Black Han Sans</vt:lpstr>
      <vt:lpstr>Inter</vt:lpstr>
      <vt:lpstr>Inter</vt:lpstr>
      <vt:lpstr>Inter</vt:lpstr>
      <vt:lpstr>IBM Plex Mono</vt:lpstr>
      <vt:lpstr>IBM Plex Mono</vt:lpstr>
      <vt:lpstr>IBM Plex Mono</vt:lpstr>
      <vt:lpstr>Inter Bold</vt:lpstr>
      <vt:lpstr>Inter Bold</vt:lpstr>
      <vt:lpstr>Inter Bold</vt:lpstr>
      <vt:lpstr>Inter SemiBold</vt:lpstr>
      <vt:lpstr>Inter SemiBold</vt:lpstr>
      <vt:lpstr>Inter SemiBold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Deepak gowda Deepak gowda</cp:lastModifiedBy>
  <cp:revision>2</cp:revision>
  <dcterms:created xsi:type="dcterms:W3CDTF">2026-09-19T16:46:00Z</dcterms:created>
  <dcterms:modified xsi:type="dcterms:W3CDTF">2026-09-19T16:49:52Z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8A46553F8FBB48BFAA949A9982EDB4FC_13</vt:lpwstr>
  </property>
  <property fmtid="{D5CDD505-2E9C-101B-9397-08002B2CF9AE}" pid="3" name="KSOProductBuildVer">
    <vt:lpwstr>1033-12.1.0.28485</vt:lpwstr>
  </property>
</Properties>
</file>